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presProps" Target="presProps.xml"/>
  <Relationship Id="rId4" Type="http://schemas.openxmlformats.org/officeDocument/2006/relationships/slide" Target="slides/slide1.xml"/>
  <Relationship Id="rId5" Type="http://schemas.openxmlformats.org/officeDocument/2006/relationships/slide" Target="slides/slide2.xml"/>
  <Relationship Id="rId6" Type="http://schemas.openxmlformats.org/officeDocument/2006/relationships/slide" Target="slides/slide3.xml"/>
  <Relationship Id="rId7" Type="http://schemas.openxmlformats.org/officeDocument/2006/relationships/slide" Target="slides/slide4.xml"/>
  <Relationship Id="rId8" Type="http://schemas.openxmlformats.org/officeDocument/2006/relationships/slide" Target="slides/slide5.xml"/>
  <Relationship Id="rId9" Type="http://schemas.openxmlformats.org/officeDocument/2006/relationships/slide" Target="slides/slide6.xml"/>
  <Relationship Id="rId10" Type="http://schemas.openxmlformats.org/officeDocument/2006/relationships/slide" Target="slides/slide7.xml"/>
  <Relationship Id="rId11" Type="http://schemas.openxmlformats.org/officeDocument/2006/relationships/slide" Target="slides/slide8.xml"/>
  <Relationship Id="rId12" Type="http://schemas.openxmlformats.org/officeDocument/2006/relationships/slide" Target="slides/slide9.xml"/>
  <Relationship Id="rId13" Type="http://schemas.openxmlformats.org/officeDocument/2006/relationships/slide" Target="slides/slide10.xml"/>
  <Relationship Id="rId14" Type="http://schemas.openxmlformats.org/officeDocument/2006/relationships/slide" Target="slides/slide11.xml"/>
  <Relationship Id="rId15" Type="http://schemas.openxmlformats.org/officeDocument/2006/relationships/slide" Target="slides/slide12.xml"/>
  <Relationship Id="rId16" Type="http://schemas.openxmlformats.org/officeDocument/2006/relationships/slide" Target="slides/slide13.xml"/>
  <Relationship Id="rId17" Type="http://schemas.openxmlformats.org/officeDocument/2006/relationships/slide" Target="slides/slide14.xml"/>
  <Relationship Id="rId18" Type="http://schemas.openxmlformats.org/officeDocument/2006/relationships/slide" Target="slides/slide15.xml"/>
  <Relationship Id="rId19" Type="http://schemas.openxmlformats.org/officeDocument/2006/relationships/slide" Target="slides/slide16.xml"/>
  <Relationship Id="rId20" Type="http://schemas.openxmlformats.org/officeDocument/2006/relationships/slide" Target="slides/slide17.xml"/>
  <Relationship Id="rId21" Type="http://schemas.openxmlformats.org/officeDocument/2006/relationships/slide" Target="slides/slide18.xml"/>
  <Relationship Id="rId22" Type="http://schemas.openxmlformats.org/officeDocument/2006/relationships/slide" Target="slides/slide19.xml"/>
  <Relationship Id="rId23" Type="http://schemas.openxmlformats.org/officeDocument/2006/relationships/slide" Target="slides/slide20.xml"/>
  <Relationship Id="rId24" Type="http://schemas.openxmlformats.org/officeDocument/2006/relationships/slide" Target="slides/slide21.xml"/>
  <Relationship Id="rId25" Type="http://schemas.openxmlformats.org/officeDocument/2006/relationships/slide" Target="slides/slide22.xml"/>
  <Relationship Id="rId26" Type="http://schemas.openxmlformats.org/officeDocument/2006/relationships/slide" Target="slides/slide23.xml"/>
  <Relationship Id="rId27" Type="http://schemas.openxmlformats.org/officeDocument/2006/relationships/slide" Target="slides/slide24.xml"/>
  <Relationship Id="rId28" Type="http://schemas.openxmlformats.org/officeDocument/2006/relationships/slide" Target="slides/slide25.xml"/>
  <Relationship Id="rId29" Type="http://schemas.openxmlformats.org/officeDocument/2006/relationships/slide" Target="slides/slide26.xml"/>
  <Relationship Id="rId30" Type="http://schemas.openxmlformats.org/officeDocument/2006/relationships/slide" Target="slides/slide27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6400000"/>
            <a:ext cx="12192000" cy="4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800000" y="1600000"/>
            <a:ext cx="10500000" cy="25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fr-FR" dirty="0" b="1" sz="3600">
                <a:solidFill>
                  <a:srgbClr val="1E40AF"/>
                </a:solidFill>
                <a:latin typeface="Calibri"/>
                <a:cs typeface="Calibri"/>
              </a:rPr>
              <a:t>IA Pratique pour une Plateforme</a:t>
            </a:r>
          </a:p>
          <a:p>
            <a:pPr algn="ctr">
              <a:spcAft>
                <a:spcPts val="200"/>
              </a:spcAft>
            </a:pPr>
            <a:r>
              <a:rPr lang="fr-FR" dirty="0" b="1" sz="3600">
                <a:solidFill>
                  <a:srgbClr val="1E40AF"/>
                </a:solidFill>
                <a:latin typeface="Calibri"/>
                <a:cs typeface="Calibri"/>
              </a:rPr>
              <a:t>E-Commerce d'Affiliation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0" y="3500000"/>
            <a:ext cx="2200000" cy="4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500000" y="3800000"/>
            <a:ext cx="9200000" cy="15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fr-FR" dirty="0" sz="2000">
                <a:solidFill>
                  <a:srgbClr val="6B7280"/>
                </a:solidFill>
                <a:latin typeface="Calibri"/>
                <a:cs typeface="Calibri"/>
              </a:rPr>
              <a:t>Recommandation de Produits, Intelligence d'Approvisionnement</a:t>
            </a:r>
          </a:p>
          <a:p>
            <a:pPr algn="ctr">
              <a:spcAft>
                <a:spcPts val="100"/>
              </a:spcAft>
            </a:pPr>
            <a:r>
              <a:rPr lang="fr-FR" dirty="0" sz="2000">
                <a:solidFill>
                  <a:srgbClr val="6B7280"/>
                </a:solidFill>
                <a:latin typeface="Calibri"/>
                <a:cs typeface="Calibri"/>
              </a:rPr>
              <a:t>et Analytics Metier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500000" y="5600000"/>
            <a:ext cx="9200000" cy="10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"/>
              </a:spcAft>
            </a:pPr>
            <a:r>
              <a:rPr lang="fr-FR" dirty="0" sz="1200">
                <a:solidFill>
                  <a:srgbClr val="6B7280"/>
                </a:solidFill>
                <a:latin typeface="Calibri"/>
                <a:cs typeface="Calibri"/>
              </a:rPr>
              <a:t>CHELLAK Aymane | Encadrant: MOUSSAID Ahmed / ECHCHAHID Khalid</a:t>
            </a:r>
          </a:p>
          <a:p>
            <a:pPr algn="ctr">
              <a:spcAft>
                <a:spcPts val="50"/>
              </a:spcAft>
            </a:pPr>
            <a:r>
              <a:rPr lang="fr-FR" dirty="0" sz="1200">
                <a:solidFill>
                  <a:srgbClr val="6B7280"/>
                </a:solidFill>
                <a:latin typeface="Calibri"/>
                <a:cs typeface="Calibri"/>
              </a:rPr>
              <a:t>FST Mohammedia | Maroc Affiliate Network |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Plan de la Presentation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1. Contexte General et Problematique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2. Presentation de l'Entreprise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3. Methodologie de Travail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4. Architecture Technique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5. Module 1 : Analytics Dashboard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6. Module 2 : Systeme de Recommandation TrackA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7. Module 3 : Enrichissement de Stock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8. Difficultes et Solutions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9. Bilan et Perspectives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Contexte General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E-commerce en croissance exponentielle au Maroc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Modele d'affiliation : vendeurs independants sans risque d'inventaire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Plateforme multi-roles : Admin, Vendeur, Entrepot, Livreur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Gestion complete : catalogue, stock, commandes, livraison, facturation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Problematique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Comment fournir une vision claire des performances ? (Analytics)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Comment aider les vendeurs a decouvrir les bons produits ? (Recommandation)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Comment optimiser l'approvisionnement ? (Stock)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3 missions principales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Systeme d'analytics avance (pilotage operationnel)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Moteur de recommandation intelligent (personnalisation)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Module d'enrichissement de stock (approvisionnement)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Maroc Affiliate Network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Plateforme e-commerce par affiliation au Maroc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Modele economique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Admin acquiert produits aupres de fournisseurs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Stockage dans entrepots centraux et regionaux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Vendeurs affilies selectionnent et vendent les produits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Plateforme gere la logistique de livraison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Vendeur percoit un benefice sur chaque vente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4 acteurs : Admin, Vendeur, Entrepot, Livreur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Existant Avant le Stage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Systeme d'authentification et autorisation (RBAC)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Gestion du catalogue produits et variantes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Systeme de commandes basique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Integration societes de livraison externes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Point de vente (POS) avec support hors-ligne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Besoins identifies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Pilotage operationnel (pas de dashboards)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Decouverte produit (catalogue en croissance)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Processus d'approvisionnement (manuel et lent)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Methodologie de Travail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Approche Agile iterative (inspiree Scrum)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Sprints de 2 semaines avec objectifs definis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Daily standups + Sprint review + Retrospective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Outils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Git + GitHub (versionnement, PR, code review)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Vercel (deploiement continu frontend)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Railway (deploiement microservices)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Discord (communication asynchrone)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Workflow : branche feature -&gt; PR -&gt; review -&gt; deploy preview -&gt; merge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Architecture Globale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Architecture hybride : monolithe modulaire + microservices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Next.js 15 (App Router) -&gt; Frontend + Backend (Vercel)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FastAPI (Python) -&gt; Service de recommandation (Railway)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PostgreSQL 16 (Neon) -&gt; Base de donnees principale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Redis 7.4 -&gt; Cache + Queue de jobs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BullMQ Workers -&gt; Traitements asynchrones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Justifications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Server Components + streaming SSR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PostgreSQL pour agregations analytiques avancees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Microservice Python pour isolation et scaling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Stack Technologique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Frontend : Next.js 15, TypeScript, Tailwind CSS 4, Radix UI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Backend : Server Actions, Prisma 7, PostgreSQL 16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Auth : NextAuth v5 (RBAC granulaire)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Charts : Recharts 2 | Tables : TanStack Table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Recommandation : FastAPI, SQLAlchemy, Redis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Queue/Jobs : BullMQ + Redis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Monitoring : Prometheus + Grafana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Deploy : Vercel (frontend) + Railway (services)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i18n : 3 langues (fr, en, ar) avec support RTL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000000" y="1500000"/>
            <a:ext cx="10200000" cy="25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fr-FR" dirty="0" b="1" sz="4000">
                <a:solidFill>
                  <a:srgbClr val="FFFFFF"/>
                </a:solidFill>
                <a:latin typeface="Calibri"/>
                <a:cs typeface="Calibri"/>
              </a:rPr>
              <a:t>Module 1</a:t>
            </a:r>
          </a:p>
          <a:p>
            <a:pPr algn="ctr">
              <a:spcAft>
                <a:spcPts val="200"/>
              </a:spcAft>
            </a:pPr>
            <a:r>
              <a:rPr lang="fr-FR" dirty="0" b="1" sz="4000">
                <a:solidFill>
                  <a:srgbClr val="FFFFFF"/>
                </a:solidFill>
                <a:latin typeface="Calibri"/>
                <a:cs typeface="Calibri"/>
              </a:rPr>
              <a:t>Analytics Dashboard</a:t>
            </a:r>
          </a:p>
        </p:txBody>
      </p:sp>
      <p:sp>
        <p:nvSpPr>
          <p:cNvPr id="0" name="Rectangle"/>
          <p:cNvSpPr/>
          <p:nvPr/>
        </p:nvSpPr>
        <p:spPr>
          <a:xfrm>
            <a:off x="5400000" y="3000000"/>
            <a:ext cx="1400000" cy="4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2000000" y="3500000"/>
            <a:ext cx="8200000" cy="1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FR" dirty="0" sz="2200">
                <a:solidFill>
                  <a:srgbClr val="BDD5F5"/>
                </a:solidFill>
                <a:latin typeface="Calibri"/>
                <a:cs typeface="Calibri"/>
              </a:rPr>
              <a:t>Pilotage operationnel de la plateforme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Analytics : Architecture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8 tableaux de bord : Executif, Commandes, Livraison,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Produits, Variantes, Vendeurs, Clients, Entrepots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Architecture en couches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1. Presentation (React Server/Client Components)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2. Page (page.tsx avec Suspense)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3. Donnees (queries.ts + unstable_cache)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4. Persistance (Prisma $queryRaw -&gt; PostgreSQL)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Pattern identique pour chaque sous-page (maintenabilite)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Analytics : Fonctionnalites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50+ indicateurs KPI avec comparaison periode-sur-periode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Commandes : funnel de conversion, performance par ville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Livraison : comparaison transporteurs, heatmap societe x ville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Produits : quadrant performance vs stock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Variantes : heatmap couleur x taille (5 modes)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Vendeurs : leaderboard, scoring churn, risque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Clients : segmentation LTV (1, 2-3, 4-6, 7+)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Entrepots : comparaison multi-criteres, rotation stock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Analytics : Optimisations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Parallelisation : Promise.all() -&gt; 11 requetes en parallele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Temps = max(requetes) au lieu de somme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Cache intelligent : TTL 300s + invalidation on-demand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revalidateTag() dans les server actions de mutation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SQL optimise : COUNT(*) FILTER + CTE en une seule passe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UX : Suspense + skeleton anime + streaming SSR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Resultats : &lt; 1s (cache hit), &lt; 3s (cache miss)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000000" y="1500000"/>
            <a:ext cx="10200000" cy="25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fr-FR" dirty="0" b="1" sz="4000">
                <a:solidFill>
                  <a:srgbClr val="FFFFFF"/>
                </a:solidFill>
                <a:latin typeface="Calibri"/>
                <a:cs typeface="Calibri"/>
              </a:rPr>
              <a:t>Module 2</a:t>
            </a:r>
          </a:p>
          <a:p>
            <a:pPr algn="ctr">
              <a:spcAft>
                <a:spcPts val="200"/>
              </a:spcAft>
            </a:pPr>
            <a:r>
              <a:rPr lang="fr-FR" dirty="0" b="1" sz="4000">
                <a:solidFill>
                  <a:srgbClr val="FFFFFF"/>
                </a:solidFill>
                <a:latin typeface="Calibri"/>
                <a:cs typeface="Calibri"/>
              </a:rPr>
              <a:t>Systeme de Recommandation TrackA</a:t>
            </a:r>
          </a:p>
        </p:txBody>
      </p:sp>
      <p:sp>
        <p:nvSpPr>
          <p:cNvPr id="0" name="Rectangle"/>
          <p:cNvSpPr/>
          <p:nvPr/>
        </p:nvSpPr>
        <p:spPr>
          <a:xfrm>
            <a:off x="5400000" y="3000000"/>
            <a:ext cx="1400000" cy="4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2000000" y="3500000"/>
            <a:ext cx="8200000" cy="1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FR" dirty="0" sz="2200">
                <a:solidFill>
                  <a:srgbClr val="BDD5F5"/>
                </a:solidFill>
                <a:latin typeface="Calibri"/>
                <a:cs typeface="Calibri"/>
              </a:rPr>
              <a:t>Microservice autonome de recommandation personnalisee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TrackA : Architecture Microservice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Microservice independant (FastAPI + Python 3.11)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Deploye sur Railway : 3 processus depuis 1 image Docker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Composants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API (FastAPI + Uvicorn) : sert les recommandations REST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Worker (ThreadPool x 4) : calcule et prechauffe le cache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Scheduler (APScheduler) : enfile les vendeurs toutes les 30min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Infrastructure : PostgreSQL + Redis (LRU 256MB)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Observabilite : Prometheus + Grafana (7 metriques)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TrackA : Algorithme a 5 Signaux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Ensemble pondere de 5 signaux positifs + penalite :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Popularite (25%) : volume commandes recentes [global]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Historique (35%) : commandes passees + affinite [vendeur]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Recence (20%) : courbe en U inverse [vendeur]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Nouveaute (10%) : age du produit [global]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Engagement (10%) : likes + commentaires [global]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Score final = sum(wi * Si) - penalite(annulations)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Diversite categorielle + exploration aleatoire (5%)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TrackA : Adaptation Dynamique des Poids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Poids adaptes selon le profil vendeur :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Nouveau (0 cmd)      : Pop=52.5% | Hist=0%    | Nouv=37.5%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Demarrage froid (&lt;5)  : Pop=33.4% | Hist=14%   | Nouv=22.6%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Standard (5-50)      : Pop=25%   | Hist=35%   | Rec=20%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Experimente (&gt;50)    : Pop=12.5% | Hist=43.8% | Rec=23.8%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Courbe de recence en U inverse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Zone optimale = 14-40 jours (cycle reapprovisionnement)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TrackA : Pipeline de Serving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Strategie multi-couches (5 fallbacks) :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1. Redis cache hit -&gt; &lt; 5ms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2. Snapshot frais -&gt; warm Redis + retourner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3. Snapshot perime -&gt; retourner stale + queue refresh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4. Aucun snapshot -&gt; queue refresh + produits populaires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5. Erreur totale -&gt; fallback popularite globale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Evenements declencheurs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order-placed, product-engaged, product-updated, seller-created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Invalidation immediate + refresh asynchrone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TrackA : Resultats en Production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Performance mesuree (150+ produits, 80+ vendeurs, 3000+ commandes) :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Temps reponse (cache hit) : &lt; 5 ms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Temps reponse (calcul complet) : 150-300 ms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Debit worker (4 threads) : ~40 refresh/min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Taux de cache hit : ~85%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Requetes SQL par calcul : 8 (batch, sans N+1)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Qualite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Couverture catalogue : 92%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Diversite : 4.2 categories / set de 30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Personnalisation : 68% pour vendeurs 5+ commandes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000000" y="1500000"/>
            <a:ext cx="10200000" cy="25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fr-FR" dirty="0" b="1" sz="4000">
                <a:solidFill>
                  <a:srgbClr val="FFFFFF"/>
                </a:solidFill>
                <a:latin typeface="Calibri"/>
                <a:cs typeface="Calibri"/>
              </a:rPr>
              <a:t>Module 3</a:t>
            </a:r>
          </a:p>
          <a:p>
            <a:pPr algn="ctr">
              <a:spcAft>
                <a:spcPts val="200"/>
              </a:spcAft>
            </a:pPr>
            <a:r>
              <a:rPr lang="fr-FR" dirty="0" b="1" sz="4000">
                <a:solidFill>
                  <a:srgbClr val="FFFFFF"/>
                </a:solidFill>
                <a:latin typeface="Calibri"/>
                <a:cs typeface="Calibri"/>
              </a:rPr>
              <a:t>Enrichissement de Stock</a:t>
            </a:r>
          </a:p>
        </p:txBody>
      </p:sp>
      <p:sp>
        <p:nvSpPr>
          <p:cNvPr id="0" name="Rectangle"/>
          <p:cNvSpPr/>
          <p:nvPr/>
        </p:nvSpPr>
        <p:spPr>
          <a:xfrm>
            <a:off x="5400000" y="3000000"/>
            <a:ext cx="1400000" cy="4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2000000" y="3500000"/>
            <a:ext cx="8200000" cy="1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fr-FR" dirty="0" sz="2200">
                <a:solidFill>
                  <a:srgbClr val="BDD5F5"/>
                </a:solidFill>
                <a:latin typeface="Calibri"/>
                <a:cs typeface="Calibri"/>
              </a:rPr>
              <a:t>Optimisation du processus d'approvisionnement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Stock : Architecture et Modele de Donnees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Pipeline : Fournisseur -&gt; Scan/Selection -&gt; PurchaseBatch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Main Warehouse -&gt; Transfert -&gt; Entrepot destination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Modeles Prisma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PurchaseBatch : lot d'achat (adminId, totalPrice, notes)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Purchase : ligne d'achat (variant, qty, remainingQty, status)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StockMovement : tracabilite (type: PURCHASE)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WarehouseStock : stock par variante par entrepot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Transaction atomique (timeout 60s) pour chaque lot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Stock : Deux Modes d'Entree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Mode Scanner QR (pistolet barcode USB)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Auto-focus permanent + file d'attente client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Traitement sequentiel (0% perte de scans)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Format QR : {productCode}-{variantAssignmentId}-{variantId}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Scan rapide : support 3 scans/seconde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Mode Manuel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Recherche textuelle (debounced 300ms)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Filtres : categorie, fournisseur, statut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Modal de selection variantes (quantite individuelle)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Fonction 'Appliquer a toutes'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Stock : Panier et Transfert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Panier d'achat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Position sticky, controles quantite inline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Badge methode (Scanner/Manuel), resume temps reel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Sauvegarde sessionStorage (protection contre perte)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Transfert Purchase -&gt; Entrepot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Selection lignes + quantite ajustable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Choix entrepot destination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Reutilisation pipeline executeTransfer existant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Transfert partiel supporte (remainingQuantity)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- 0 modification du code existant (1200+ lignes)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Difficultes et Solutions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Analytics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Requetes lentes -&gt; Promise.all() + cache TTL 300s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Staleness cache -&gt; revalidateTag on-demand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Recommandation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Cold-start -&gt; adaptation dynamique des poids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N+1 queries (150 req/calcul) -&gt; batch GROUP BY (8 req fixes)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Pannes -&gt; 5 niveaux de fallback (degradation gracieuse)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Stock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Scans perdus (15-20%) -&gt; file d'attente client (0%)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Atomicite -&gt; transaction Prisma unique 60s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Integration -&gt; adaptateur (Open/Closed principle)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Bilan des Realisations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Analytics Dashboard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8 dashboards, 50+ KPIs, &lt; 1s en cache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Systeme de Recommandation TrackA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Microservice autonome, &lt; 5ms, 85% cache hit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Algorithme 5 signaux adaptatif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Enrichissement de Stock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Dual-mode (QR + manuel), 0% perte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-&gt; Temps reception : 2h -&gt; 15min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Tous les objectifs atteints et en production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0"/>
            <a:ext cx="60000" cy="9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500000" y="150000"/>
            <a:ext cx="11000000" cy="7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fr-FR" dirty="0" b="1" sz="2400">
                <a:solidFill>
                  <a:srgbClr val="1E40AF"/>
                </a:solidFill>
                <a:latin typeface="Calibri"/>
                <a:cs typeface="Calibri"/>
              </a:rPr>
              <a:t>Perspectives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00000" y="1050000"/>
            <a:ext cx="11200000" cy="52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Modele ML supervise pour recommandations (A/B testing)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Vues materialisees PostgreSQL pour agregations lourdes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Import CSV/Excel pour achats en gros volume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Application mobile dediee pour scan d'inventaire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Dashboard temps reel avec WebSockets</a:t>
            </a:r>
          </a:p>
          <a:p>
            <a:pPr>
              <a:spcAft>
                <a:spcPts val="200"/>
              </a:spcAft>
            </a:pPr>
            <a:endParaRPr lang="fr-FR" sz="800"/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fr-FR" dirty="0" sz="1700">
                <a:solidFill>
                  <a:srgbClr val="1F2937"/>
                </a:solidFill>
                <a:latin typeface="Calibri"/>
                <a:cs typeface="Calibri"/>
              </a:rPr>
              <a:t>Apports personnels :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Conception architectures distribuees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Compromis complexite technique / valeur metier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Validation par mesures en production</a:t>
            </a:r>
          </a:p>
          <a:p>
            <a:pPr marL="457200" indent="-228600">
              <a:spcAft>
                <a:spcPts val="300"/>
              </a:spcAft>
              <a:buFont typeface="Arial"/>
              <a:buChar char="•"/>
            </a:pPr>
            <a:r>
              <a:rPr lang="fr-FR" dirty="0" sz="1500">
                <a:solidFill>
                  <a:srgbClr val="6B7280"/>
                </a:solidFill>
                <a:latin typeface="Calibri"/>
                <a:cs typeface="Calibri"/>
              </a:rPr>
              <a:t>- Pragmatisme dans les decisions d'ingenierie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" y="6550000"/>
            <a:ext cx="11200000" cy="15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1200000" y="6400000"/>
            <a:ext cx="700000" cy="4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fr-FR" dirty="0" sz="1000">
                <a:solidFill>
                  <a:srgbClr val="6B7280"/>
                </a:solidFill>
                <a:latin typeface="Calibri"/>
                <a:cs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Rectangle"/>
          <p:cNvSpPr/>
          <p:nvPr/>
        </p:nvSpPr>
        <p:spPr>
          <a:xfrm>
            <a:off x="0" y="6400000"/>
            <a:ext cx="12192000" cy="4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800000" y="1600000"/>
            <a:ext cx="10500000" cy="25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fr-FR" dirty="0" b="1" sz="3600">
                <a:solidFill>
                  <a:srgbClr val="1E40AF"/>
                </a:solidFill>
                <a:latin typeface="Calibri"/>
                <a:cs typeface="Calibri"/>
              </a:rPr>
              <a:t>Merci pour votre attention</a:t>
            </a:r>
          </a:p>
        </p:txBody>
      </p:sp>
      <p:sp>
        <p:nvSpPr>
          <p:cNvPr id="0" name="Rectangle"/>
          <p:cNvSpPr/>
          <p:nvPr/>
        </p:nvSpPr>
        <p:spPr>
          <a:xfrm>
            <a:off x="5000000" y="3500000"/>
            <a:ext cx="2200000" cy="4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0" name="TextBox"/>
          <p:cNvSpPr txBox="1"/>
          <p:nvPr/>
        </p:nvSpPr>
        <p:spPr>
          <a:xfrm>
            <a:off x="1500000" y="3800000"/>
            <a:ext cx="9200000" cy="15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fr-FR" dirty="0" sz="2000">
                <a:solidFill>
                  <a:srgbClr val="6B7280"/>
                </a:solidFill>
                <a:latin typeface="Calibri"/>
                <a:cs typeface="Calibri"/>
              </a:rPr>
              <a:t>Questions ?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500000" y="5600000"/>
            <a:ext cx="9200000" cy="100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"/>
              </a:spcAft>
            </a:pPr>
            <a:r>
              <a:rPr lang="fr-FR" dirty="0" sz="1200">
                <a:solidFill>
                  <a:srgbClr val="6B7280"/>
                </a:solidFill>
                <a:latin typeface="Calibri"/>
                <a:cs typeface="Calibri"/>
              </a:rPr>
              <a:t>CHELLAK Aymane | Stage PFA 2025-2026</a:t>
            </a:r>
          </a:p>
          <a:p>
            <a:pPr algn="ctr">
              <a:spcAft>
                <a:spcPts val="50"/>
              </a:spcAft>
            </a:pPr>
            <a:r>
              <a:rPr lang="fr-FR" dirty="0" sz="1200">
                <a:solidFill>
                  <a:srgbClr val="6B7280"/>
                </a:solidFill>
                <a:latin typeface="Calibri"/>
                <a:cs typeface="Calibri"/>
              </a:rPr>
              <a:t>Maroc Affiliate Network | FST Mohammedia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FA Theme">
  <a:themeElements>
    <a:clrScheme name="PFA Colors">
      <a:dk1>
        <a:srgbClr val="1F2937"/>
      </a:dk1>
      <a:lt1>
        <a:srgbClr val="FFFFFF"/>
      </a:lt1>
      <a:dk2>
        <a:srgbClr val="1E40AF"/>
      </a:dk2>
      <a:lt2>
        <a:srgbClr val="F8FAFC"/>
      </a:lt2>
      <a:accent1>
        <a:srgbClr val="1E40AF"/>
      </a:accent1>
      <a:accent2>
        <a:srgbClr val="059669"/>
      </a:accent2>
      <a:accent3>
        <a:srgbClr val="6B7280"/>
      </a:accent3>
      <a:accent4>
        <a:srgbClr val="DC2626"/>
      </a:accent4>
      <a:accent5>
        <a:srgbClr val="7C3AED"/>
      </a:accent5>
      <a:accent6>
        <a:srgbClr val="EA580C"/>
      </a:accent6>
      <a:hlink>
        <a:srgbClr val="1E40AF"/>
      </a:hlink>
      <a:folHlink>
        <a:srgbClr val="6B7280"/>
      </a:folHlink>
    </a:clrScheme>
    <a:fontScheme name="PFA Fo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